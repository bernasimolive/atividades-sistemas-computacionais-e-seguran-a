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League Spartan" charset="1" panose="00000800000000000000"/>
      <p:regular r:id="rId14"/>
    </p:embeddedFont>
    <p:embeddedFont>
      <p:font typeface="Arimo Bold" charset="1" panose="020B0704020202020204"/>
      <p:regular r:id="rId15"/>
    </p:embeddedFont>
    <p:embeddedFont>
      <p:font typeface="Arimo" charset="1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1354" y="1028700"/>
            <a:ext cx="4282420" cy="8229600"/>
          </a:xfrm>
          <a:custGeom>
            <a:avLst/>
            <a:gdLst/>
            <a:ahLst/>
            <a:cxnLst/>
            <a:rect r="r" b="b" t="t" l="l"/>
            <a:pathLst>
              <a:path h="8229600" w="428242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1028700"/>
            <a:ext cx="4282420" cy="8229600"/>
          </a:xfrm>
          <a:custGeom>
            <a:avLst/>
            <a:gdLst/>
            <a:ahLst/>
            <a:cxnLst/>
            <a:rect r="r" b="b" t="t" l="l"/>
            <a:pathLst>
              <a:path h="8229600" w="4282420">
                <a:moveTo>
                  <a:pt x="4282420" y="0"/>
                </a:moveTo>
                <a:lnTo>
                  <a:pt x="0" y="0"/>
                </a:lnTo>
                <a:lnTo>
                  <a:pt x="0" y="8229600"/>
                </a:lnTo>
                <a:lnTo>
                  <a:pt x="4282420" y="8229600"/>
                </a:lnTo>
                <a:lnTo>
                  <a:pt x="428242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1322150"/>
            <a:ext cx="7080531" cy="8496579"/>
          </a:xfrm>
          <a:custGeom>
            <a:avLst/>
            <a:gdLst/>
            <a:ahLst/>
            <a:cxnLst/>
            <a:rect r="r" b="b" t="t" l="l"/>
            <a:pathLst>
              <a:path h="8496579" w="7080531">
                <a:moveTo>
                  <a:pt x="0" y="0"/>
                </a:moveTo>
                <a:lnTo>
                  <a:pt x="7080531" y="0"/>
                </a:lnTo>
                <a:lnTo>
                  <a:pt x="7080531" y="8496579"/>
                </a:lnTo>
                <a:lnTo>
                  <a:pt x="0" y="849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368" t="0" r="-8399" b="-374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014090" y="4273574"/>
            <a:ext cx="10468843" cy="113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55"/>
              </a:lnSpc>
            </a:pPr>
            <a:r>
              <a:rPr lang="en-US" sz="8165" spc="81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SOS ENCHENTE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34410" y="5624085"/>
            <a:ext cx="9428203" cy="123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4"/>
              </a:lnSpc>
            </a:pPr>
            <a:r>
              <a:rPr lang="en-US" b="true" sz="2371" spc="23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Sistema Inteligente de Alerta de Enchentes e Navegação Segura em</a:t>
            </a:r>
          </a:p>
          <a:p>
            <a:pPr algn="ctr">
              <a:lnSpc>
                <a:spcPts val="2514"/>
              </a:lnSpc>
            </a:pPr>
            <a:r>
              <a:rPr lang="en-US" b="true" sz="2371" spc="237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Ambientes Urbanos</a:t>
            </a:r>
          </a:p>
          <a:p>
            <a:pPr algn="r">
              <a:lnSpc>
                <a:spcPts val="219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8220839" y="9683555"/>
            <a:ext cx="8262095" cy="270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21"/>
              </a:lnSpc>
              <a:spcBef>
                <a:spcPct val="0"/>
              </a:spcBef>
            </a:pPr>
            <a:r>
              <a:rPr lang="en-US" sz="1812" spc="181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Por: Bernardo Simonet, Maida Chaparro e Rafael Alves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5177010" y="-1253949"/>
            <a:ext cx="2720897" cy="5228794"/>
          </a:xfrm>
          <a:custGeom>
            <a:avLst/>
            <a:gdLst/>
            <a:ahLst/>
            <a:cxnLst/>
            <a:rect r="r" b="b" t="t" l="l"/>
            <a:pathLst>
              <a:path h="5228794" w="2720897">
                <a:moveTo>
                  <a:pt x="0" y="5228795"/>
                </a:moveTo>
                <a:lnTo>
                  <a:pt x="2720897" y="5228795"/>
                </a:lnTo>
                <a:lnTo>
                  <a:pt x="2720897" y="0"/>
                </a:lnTo>
                <a:lnTo>
                  <a:pt x="0" y="0"/>
                </a:lnTo>
                <a:lnTo>
                  <a:pt x="0" y="5228795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69261" y="844944"/>
            <a:ext cx="14786917" cy="113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55"/>
              </a:lnSpc>
            </a:pPr>
            <a:r>
              <a:rPr lang="en-US" sz="8165" spc="81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PROBLEMÁTICA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473955" y="2917303"/>
            <a:ext cx="2720897" cy="5228794"/>
          </a:xfrm>
          <a:custGeom>
            <a:avLst/>
            <a:gdLst/>
            <a:ahLst/>
            <a:cxnLst/>
            <a:rect r="r" b="b" t="t" l="l"/>
            <a:pathLst>
              <a:path h="5228794" w="2720897">
                <a:moveTo>
                  <a:pt x="0" y="0"/>
                </a:moveTo>
                <a:lnTo>
                  <a:pt x="2720897" y="0"/>
                </a:lnTo>
                <a:lnTo>
                  <a:pt x="2720897" y="5228794"/>
                </a:lnTo>
                <a:lnTo>
                  <a:pt x="0" y="522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731135" y="2749847"/>
            <a:ext cx="11663170" cy="5592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40"/>
              </a:lnSpc>
            </a:pPr>
            <a:r>
              <a:rPr lang="en-US" sz="3812" spc="3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 Brasil tem enfrentado eventos climáticos extremos com frequência crescente, como as enchentes em 2025 no Rio Grande do Sul e em São Paulo, que expuseram a vulnerabilidade das cidades. A ausência de sistemas eficazes de monitoramento e alerta reforça a necessidade de soluções inteligentes baseadas em tecnologias como IoT e geolocalização, alinhadas ao conceito de cidades inteligentes.</a:t>
            </a:r>
          </a:p>
          <a:p>
            <a:pPr algn="just">
              <a:lnSpc>
                <a:spcPts val="404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2493498" y="-330162"/>
            <a:ext cx="6662759" cy="10947323"/>
            <a:chOff x="0" y="0"/>
            <a:chExt cx="1032236" cy="16960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2236" cy="1696027"/>
            </a:xfrm>
            <a:custGeom>
              <a:avLst/>
              <a:gdLst/>
              <a:ahLst/>
              <a:cxnLst/>
              <a:rect r="r" b="b" t="t" l="l"/>
              <a:pathLst>
                <a:path h="1696027" w="1032236">
                  <a:moveTo>
                    <a:pt x="0" y="0"/>
                  </a:moveTo>
                  <a:lnTo>
                    <a:pt x="1032236" y="0"/>
                  </a:lnTo>
                  <a:lnTo>
                    <a:pt x="1032236" y="1696027"/>
                  </a:lnTo>
                  <a:lnTo>
                    <a:pt x="0" y="1696027"/>
                  </a:lnTo>
                  <a:close/>
                </a:path>
              </a:pathLst>
            </a:custGeom>
            <a:blipFill>
              <a:blip r:embed="rId3"/>
              <a:stretch>
                <a:fillRect l="-96093" t="0" r="-96093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8788436" y="-316726"/>
            <a:ext cx="7886994" cy="10920453"/>
          </a:xfrm>
          <a:custGeom>
            <a:avLst/>
            <a:gdLst/>
            <a:ahLst/>
            <a:cxnLst/>
            <a:rect r="r" b="b" t="t" l="l"/>
            <a:pathLst>
              <a:path h="10920453" w="7886994">
                <a:moveTo>
                  <a:pt x="7886994" y="0"/>
                </a:moveTo>
                <a:lnTo>
                  <a:pt x="0" y="0"/>
                </a:lnTo>
                <a:lnTo>
                  <a:pt x="0" y="10920452"/>
                </a:lnTo>
                <a:lnTo>
                  <a:pt x="7886994" y="10920452"/>
                </a:lnTo>
                <a:lnTo>
                  <a:pt x="7886994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0" y="0"/>
            <a:ext cx="9144000" cy="10287000"/>
            <a:chOff x="0" y="0"/>
            <a:chExt cx="240829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08296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08296">
                  <a:moveTo>
                    <a:pt x="0" y="0"/>
                  </a:moveTo>
                  <a:lnTo>
                    <a:pt x="2408296" y="0"/>
                  </a:lnTo>
                  <a:lnTo>
                    <a:pt x="240829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408296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944127" y="8134952"/>
            <a:ext cx="6667707" cy="3145099"/>
          </a:xfrm>
          <a:custGeom>
            <a:avLst/>
            <a:gdLst/>
            <a:ahLst/>
            <a:cxnLst/>
            <a:rect r="r" b="b" t="t" l="l"/>
            <a:pathLst>
              <a:path h="3145099" w="6667707">
                <a:moveTo>
                  <a:pt x="0" y="0"/>
                </a:moveTo>
                <a:lnTo>
                  <a:pt x="6667707" y="0"/>
                </a:lnTo>
                <a:lnTo>
                  <a:pt x="6667707" y="3145098"/>
                </a:lnTo>
                <a:lnTo>
                  <a:pt x="0" y="31450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182621" y="8134952"/>
            <a:ext cx="6667707" cy="3145099"/>
          </a:xfrm>
          <a:custGeom>
            <a:avLst/>
            <a:gdLst/>
            <a:ahLst/>
            <a:cxnLst/>
            <a:rect r="r" b="b" t="t" l="l"/>
            <a:pathLst>
              <a:path h="3145099" w="6667707">
                <a:moveTo>
                  <a:pt x="0" y="0"/>
                </a:moveTo>
                <a:lnTo>
                  <a:pt x="6667708" y="0"/>
                </a:lnTo>
                <a:lnTo>
                  <a:pt x="6667708" y="3145098"/>
                </a:lnTo>
                <a:lnTo>
                  <a:pt x="0" y="31450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1085850"/>
            <a:ext cx="6988865" cy="2698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0"/>
              </a:lnSpc>
            </a:pPr>
          </a:p>
          <a:p>
            <a:pPr algn="ctr">
              <a:lnSpc>
                <a:spcPts val="5300"/>
              </a:lnSpc>
            </a:pPr>
            <a:r>
              <a:rPr lang="en-US" sz="5000" spc="50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OBJETIVO GERAL</a:t>
            </a:r>
          </a:p>
          <a:p>
            <a:pPr algn="ctr">
              <a:lnSpc>
                <a:spcPts val="5300"/>
              </a:lnSpc>
            </a:pPr>
          </a:p>
          <a:p>
            <a:pPr algn="ctr">
              <a:lnSpc>
                <a:spcPts val="53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915525" y="840831"/>
            <a:ext cx="6988865" cy="336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00"/>
              </a:lnSpc>
            </a:pPr>
          </a:p>
          <a:p>
            <a:pPr algn="ctr">
              <a:lnSpc>
                <a:spcPts val="5300"/>
              </a:lnSpc>
            </a:pPr>
            <a:r>
              <a:rPr lang="en-US" sz="5000" spc="500">
                <a:solidFill>
                  <a:srgbClr val="194A8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OBJETIVOS ESPECÍFICOS</a:t>
            </a:r>
          </a:p>
          <a:p>
            <a:pPr algn="ctr">
              <a:lnSpc>
                <a:spcPts val="5300"/>
              </a:lnSpc>
            </a:pPr>
          </a:p>
          <a:p>
            <a:pPr algn="ctr">
              <a:lnSpc>
                <a:spcPts val="53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838031" y="3457014"/>
            <a:ext cx="5064948" cy="3508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b="true" sz="2507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Criar uma solução tecnológica baseada em IoT para prever, detectar e alertar sobre chuvas intensas e enchentes, além de sugerir rotas seguras em tempo real para proteger a população urbana.</a:t>
            </a:r>
          </a:p>
          <a:p>
            <a:pPr algn="l">
              <a:lnSpc>
                <a:spcPts val="3511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189853" y="2874180"/>
            <a:ext cx="6485577" cy="526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1"/>
              </a:lnSpc>
              <a:spcBef>
                <a:spcPct val="0"/>
              </a:spcBef>
            </a:pPr>
          </a:p>
          <a:p>
            <a:pPr algn="l" marL="541476" indent="-270738" lvl="1">
              <a:lnSpc>
                <a:spcPts val="351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7">
                <a:solidFill>
                  <a:srgbClr val="194A8D"/>
                </a:solidFill>
                <a:latin typeface="Arimo Bold"/>
                <a:ea typeface="Arimo Bold"/>
                <a:cs typeface="Arimo Bold"/>
                <a:sym typeface="Arimo Bold"/>
              </a:rPr>
              <a:t>Integrar sensores para monitorar rios, bueiros e chuva;</a:t>
            </a:r>
          </a:p>
          <a:p>
            <a:pPr algn="l" marL="541476" indent="-270738" lvl="1">
              <a:lnSpc>
                <a:spcPts val="351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7">
                <a:solidFill>
                  <a:srgbClr val="194A8D"/>
                </a:solidFill>
                <a:latin typeface="Arimo Bold"/>
                <a:ea typeface="Arimo Bold"/>
                <a:cs typeface="Arimo Bold"/>
                <a:sym typeface="Arimo Bold"/>
              </a:rPr>
              <a:t>Utilizar dados climáticos e históricos para prever riscos;</a:t>
            </a:r>
          </a:p>
          <a:p>
            <a:pPr algn="l" marL="541476" indent="-270738" lvl="1">
              <a:lnSpc>
                <a:spcPts val="351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7">
                <a:solidFill>
                  <a:srgbClr val="194A8D"/>
                </a:solidFill>
                <a:latin typeface="Arimo Bold"/>
                <a:ea typeface="Arimo Bold"/>
                <a:cs typeface="Arimo Bold"/>
                <a:sym typeface="Arimo Bold"/>
              </a:rPr>
              <a:t>Desenvolver um app com alertas em tempo real;</a:t>
            </a:r>
          </a:p>
          <a:p>
            <a:pPr algn="l" marL="541476" indent="-270738" lvl="1">
              <a:lnSpc>
                <a:spcPts val="351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7">
                <a:solidFill>
                  <a:srgbClr val="194A8D"/>
                </a:solidFill>
                <a:latin typeface="Arimo Bold"/>
                <a:ea typeface="Arimo Bold"/>
                <a:cs typeface="Arimo Bold"/>
                <a:sym typeface="Arimo Bold"/>
              </a:rPr>
              <a:t>Criar algoritmo de rotas seguras;</a:t>
            </a:r>
          </a:p>
          <a:p>
            <a:pPr algn="l" marL="541476" indent="-270738" lvl="1">
              <a:lnSpc>
                <a:spcPts val="3511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07">
                <a:solidFill>
                  <a:srgbClr val="194A8D"/>
                </a:solidFill>
                <a:latin typeface="Arimo Bold"/>
                <a:ea typeface="Arimo Bold"/>
                <a:cs typeface="Arimo Bold"/>
                <a:sym typeface="Arimo Bold"/>
              </a:rPr>
              <a:t>Integrar o sistema com órgãos públicos e Defesa Civil.</a:t>
            </a:r>
          </a:p>
          <a:p>
            <a:pPr algn="l">
              <a:lnSpc>
                <a:spcPts val="3511"/>
              </a:lnSpc>
              <a:spcBef>
                <a:spcPct val="0"/>
              </a:spcBef>
            </a:pPr>
          </a:p>
          <a:p>
            <a:pPr algn="l">
              <a:lnSpc>
                <a:spcPts val="351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49770" y="1028700"/>
            <a:ext cx="8709530" cy="2438839"/>
            <a:chOff x="0" y="0"/>
            <a:chExt cx="2644579" cy="740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44579" cy="740534"/>
            </a:xfrm>
            <a:custGeom>
              <a:avLst/>
              <a:gdLst/>
              <a:ahLst/>
              <a:cxnLst/>
              <a:rect r="r" b="b" t="t" l="l"/>
              <a:pathLst>
                <a:path h="740534" w="2644579">
                  <a:moveTo>
                    <a:pt x="0" y="0"/>
                  </a:moveTo>
                  <a:lnTo>
                    <a:pt x="2644579" y="0"/>
                  </a:lnTo>
                  <a:lnTo>
                    <a:pt x="2644579" y="740534"/>
                  </a:lnTo>
                  <a:lnTo>
                    <a:pt x="0" y="7405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644579" cy="788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549770" y="4112980"/>
            <a:ext cx="8709530" cy="2438839"/>
            <a:chOff x="0" y="0"/>
            <a:chExt cx="2644579" cy="7405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44579" cy="740534"/>
            </a:xfrm>
            <a:custGeom>
              <a:avLst/>
              <a:gdLst/>
              <a:ahLst/>
              <a:cxnLst/>
              <a:rect r="r" b="b" t="t" l="l"/>
              <a:pathLst>
                <a:path h="740534" w="2644579">
                  <a:moveTo>
                    <a:pt x="0" y="0"/>
                  </a:moveTo>
                  <a:lnTo>
                    <a:pt x="2644579" y="0"/>
                  </a:lnTo>
                  <a:lnTo>
                    <a:pt x="2644579" y="740534"/>
                  </a:lnTo>
                  <a:lnTo>
                    <a:pt x="0" y="7405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644579" cy="788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49770" y="7669880"/>
            <a:ext cx="8709530" cy="2438839"/>
            <a:chOff x="0" y="0"/>
            <a:chExt cx="2644579" cy="7405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44579" cy="740534"/>
            </a:xfrm>
            <a:custGeom>
              <a:avLst/>
              <a:gdLst/>
              <a:ahLst/>
              <a:cxnLst/>
              <a:rect r="r" b="b" t="t" l="l"/>
              <a:pathLst>
                <a:path h="740534" w="2644579">
                  <a:moveTo>
                    <a:pt x="0" y="0"/>
                  </a:moveTo>
                  <a:lnTo>
                    <a:pt x="2644579" y="0"/>
                  </a:lnTo>
                  <a:lnTo>
                    <a:pt x="2644579" y="740534"/>
                  </a:lnTo>
                  <a:lnTo>
                    <a:pt x="0" y="7405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644579" cy="788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78025" y="516170"/>
            <a:ext cx="1731950" cy="173195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4A8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78025" y="3600450"/>
            <a:ext cx="1731950" cy="173195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4A8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5675" y="6874540"/>
            <a:ext cx="1731950" cy="1731950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94A8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0" y="-33515"/>
            <a:ext cx="6533144" cy="10354031"/>
          </a:xfrm>
          <a:custGeom>
            <a:avLst/>
            <a:gdLst/>
            <a:ahLst/>
            <a:cxnLst/>
            <a:rect r="r" b="b" t="t" l="l"/>
            <a:pathLst>
              <a:path h="10354031" w="6533144">
                <a:moveTo>
                  <a:pt x="0" y="0"/>
                </a:moveTo>
                <a:lnTo>
                  <a:pt x="6533144" y="0"/>
                </a:lnTo>
                <a:lnTo>
                  <a:pt x="6533144" y="10354030"/>
                </a:lnTo>
                <a:lnTo>
                  <a:pt x="0" y="10354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80" t="0" r="-241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758235" y="932823"/>
            <a:ext cx="7501065" cy="3218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  <a:spcBef>
                <a:spcPct val="0"/>
              </a:spcBef>
            </a:pPr>
          </a:p>
          <a:p>
            <a:pPr algn="l" marL="440573" indent="-220287" lvl="1">
              <a:lnSpc>
                <a:spcPts val="2856"/>
              </a:lnSpc>
              <a:spcBef>
                <a:spcPct val="0"/>
              </a:spcBef>
              <a:buFont typeface="Arial"/>
              <a:buChar char="•"/>
            </a:pPr>
            <a:r>
              <a:rPr lang="en-US" sz="204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Cidades Inteligentes: uso de tecnologias para melhorar a gestão urbana e a qualidade de vida.</a:t>
            </a:r>
          </a:p>
          <a:p>
            <a:pPr algn="l" marL="440573" indent="-220287" lvl="1">
              <a:lnSpc>
                <a:spcPts val="2856"/>
              </a:lnSpc>
              <a:spcBef>
                <a:spcPct val="0"/>
              </a:spcBef>
              <a:buFont typeface="Arial"/>
              <a:buChar char="•"/>
            </a:pPr>
            <a:r>
              <a:rPr lang="en-US" sz="204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IoT: sensores conectados para coleta e compartilhamento de dados ambientais em tempo real.</a:t>
            </a:r>
          </a:p>
          <a:p>
            <a:pPr algn="l" marL="440573" indent="-220287" lvl="1">
              <a:lnSpc>
                <a:spcPts val="2856"/>
              </a:lnSpc>
              <a:spcBef>
                <a:spcPct val="0"/>
              </a:spcBef>
              <a:buFont typeface="Arial"/>
              <a:buChar char="•"/>
            </a:pPr>
            <a:r>
              <a:rPr lang="en-US" sz="204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Sistemas de Alerta e Geolocalização: GPS, notificações push e mapeamento dinâmico para emergências.</a:t>
            </a: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9758235" y="3927908"/>
            <a:ext cx="7668789" cy="3218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  <a:spcBef>
                <a:spcPct val="0"/>
              </a:spcBef>
            </a:pPr>
          </a:p>
          <a:p>
            <a:pPr algn="l" marL="440573" indent="-220287" lvl="1">
              <a:lnSpc>
                <a:spcPts val="2856"/>
              </a:lnSpc>
              <a:spcBef>
                <a:spcPct val="0"/>
              </a:spcBef>
              <a:buFont typeface="Arial"/>
              <a:buChar char="•"/>
            </a:pPr>
            <a:r>
              <a:rPr lang="en-US" sz="204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Levantamento de requisitos com população e órgãos públicos;</a:t>
            </a:r>
          </a:p>
          <a:p>
            <a:pPr algn="l" marL="440573" indent="-220287" lvl="1">
              <a:lnSpc>
                <a:spcPts val="2856"/>
              </a:lnSpc>
              <a:spcBef>
                <a:spcPct val="0"/>
              </a:spcBef>
              <a:buFont typeface="Arial"/>
              <a:buChar char="•"/>
            </a:pPr>
            <a:r>
              <a:rPr lang="en-US" sz="204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Instalação de sensores e rede de comunicação (LoRa, NB-IoT ou 4G);</a:t>
            </a:r>
          </a:p>
          <a:p>
            <a:pPr algn="l" marL="440573" indent="-220287" lvl="1">
              <a:lnSpc>
                <a:spcPts val="2856"/>
              </a:lnSpc>
              <a:spcBef>
                <a:spcPct val="0"/>
              </a:spcBef>
              <a:buFont typeface="Arial"/>
              <a:buChar char="•"/>
            </a:pPr>
            <a:r>
              <a:rPr lang="en-US" sz="204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Desenvolvimento de app com alertas e rotas seguras;</a:t>
            </a:r>
          </a:p>
          <a:p>
            <a:pPr algn="l" marL="440573" indent="-220287" lvl="1">
              <a:lnSpc>
                <a:spcPts val="2856"/>
              </a:lnSpc>
              <a:spcBef>
                <a:spcPct val="0"/>
              </a:spcBef>
              <a:buFont typeface="Arial"/>
              <a:buChar char="•"/>
            </a:pPr>
            <a:r>
              <a:rPr lang="en-US" sz="204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Integração com APIs de mapas e clima;</a:t>
            </a:r>
          </a:p>
          <a:p>
            <a:pPr algn="l" marL="440573" indent="-220287" lvl="1">
              <a:lnSpc>
                <a:spcPts val="2856"/>
              </a:lnSpc>
              <a:spcBef>
                <a:spcPct val="0"/>
              </a:spcBef>
              <a:buFont typeface="Arial"/>
              <a:buChar char="•"/>
            </a:pPr>
            <a:r>
              <a:rPr lang="en-US" sz="204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Testes e validação com protótipos.</a:t>
            </a: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957625" y="7858052"/>
            <a:ext cx="6802217" cy="1786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6"/>
              </a:lnSpc>
            </a:pPr>
            <a:r>
              <a:rPr lang="en-US" sz="2040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Diferencia-se por integrar IoT com rotas inteligentes em tempo real, interface acessível, uso de dados em nuvem, e capacidade de se conectar com políticas públicas e mobilidade urbana.</a:t>
            </a:r>
          </a:p>
          <a:p>
            <a:pPr algn="l">
              <a:lnSpc>
                <a:spcPts val="2856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8278025" y="1145252"/>
            <a:ext cx="1679599" cy="74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3"/>
              </a:lnSpc>
            </a:pPr>
            <a:r>
              <a:rPr lang="en-US" sz="5314" spc="53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304200" y="4217755"/>
            <a:ext cx="1679599" cy="74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3"/>
              </a:lnSpc>
            </a:pPr>
            <a:r>
              <a:rPr lang="en-US" sz="5314" spc="53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278025" y="7467527"/>
            <a:ext cx="1679599" cy="740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33"/>
              </a:lnSpc>
            </a:pPr>
            <a:r>
              <a:rPr lang="en-US" sz="5314" spc="53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03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191521" y="73578"/>
            <a:ext cx="5935876" cy="10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679" spc="36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FUNDAMENTAÇÃO TEÓRICA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009975" y="3648075"/>
            <a:ext cx="5935876" cy="51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679" spc="36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METODOLOGIA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91521" y="6732794"/>
            <a:ext cx="5935876" cy="10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679" spc="36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INOVAÇÃO DA PROPOSTA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6617" y="3703159"/>
            <a:ext cx="6612377" cy="2438839"/>
            <a:chOff x="0" y="0"/>
            <a:chExt cx="2007796" cy="7405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7796" cy="740534"/>
            </a:xfrm>
            <a:custGeom>
              <a:avLst/>
              <a:gdLst/>
              <a:ahLst/>
              <a:cxnLst/>
              <a:rect r="r" b="b" t="t" l="l"/>
              <a:pathLst>
                <a:path h="740534" w="2007796">
                  <a:moveTo>
                    <a:pt x="0" y="0"/>
                  </a:moveTo>
                  <a:lnTo>
                    <a:pt x="2007796" y="0"/>
                  </a:lnTo>
                  <a:lnTo>
                    <a:pt x="2007796" y="740534"/>
                  </a:lnTo>
                  <a:lnTo>
                    <a:pt x="0" y="74053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07796" cy="7881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6801" y="363501"/>
            <a:ext cx="4672449" cy="9559999"/>
          </a:xfrm>
          <a:custGeom>
            <a:avLst/>
            <a:gdLst/>
            <a:ahLst/>
            <a:cxnLst/>
            <a:rect r="r" b="b" t="t" l="l"/>
            <a:pathLst>
              <a:path h="9559999" w="4672449">
                <a:moveTo>
                  <a:pt x="0" y="0"/>
                </a:moveTo>
                <a:lnTo>
                  <a:pt x="4672450" y="0"/>
                </a:lnTo>
                <a:lnTo>
                  <a:pt x="4672450" y="9559998"/>
                </a:lnTo>
                <a:lnTo>
                  <a:pt x="0" y="95599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935073" y="363501"/>
            <a:ext cx="4633281" cy="9559999"/>
          </a:xfrm>
          <a:custGeom>
            <a:avLst/>
            <a:gdLst/>
            <a:ahLst/>
            <a:cxnLst/>
            <a:rect r="r" b="b" t="t" l="l"/>
            <a:pathLst>
              <a:path h="9559999" w="4633281">
                <a:moveTo>
                  <a:pt x="0" y="0"/>
                </a:moveTo>
                <a:lnTo>
                  <a:pt x="4633281" y="0"/>
                </a:lnTo>
                <a:lnTo>
                  <a:pt x="4633281" y="9559998"/>
                </a:lnTo>
                <a:lnTo>
                  <a:pt x="0" y="9559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4" t="0" r="-66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26617" y="2668858"/>
            <a:ext cx="6612377" cy="51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679" spc="36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DESING NOTIFICAÇÃO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75512" y="3917056"/>
            <a:ext cx="6114588" cy="195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Após instalação e configuração do app com sua localização atual. Você ja está pronto para acompanhar as rotas de mais rapidas e seguras até um local de sua escolha. Assim, evitando enchentes e priorizand sua segurança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26617" y="3209755"/>
            <a:ext cx="6612377" cy="3867491"/>
            <a:chOff x="0" y="0"/>
            <a:chExt cx="2007796" cy="1174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07796" cy="1174333"/>
            </a:xfrm>
            <a:custGeom>
              <a:avLst/>
              <a:gdLst/>
              <a:ahLst/>
              <a:cxnLst/>
              <a:rect r="r" b="b" t="t" l="l"/>
              <a:pathLst>
                <a:path h="1174333" w="2007796">
                  <a:moveTo>
                    <a:pt x="0" y="0"/>
                  </a:moveTo>
                  <a:lnTo>
                    <a:pt x="2007796" y="0"/>
                  </a:lnTo>
                  <a:lnTo>
                    <a:pt x="2007796" y="1174333"/>
                  </a:lnTo>
                  <a:lnTo>
                    <a:pt x="0" y="11743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2007796" cy="1221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19646" y="469676"/>
            <a:ext cx="4168521" cy="9263380"/>
          </a:xfrm>
          <a:custGeom>
            <a:avLst/>
            <a:gdLst/>
            <a:ahLst/>
            <a:cxnLst/>
            <a:rect r="r" b="b" t="t" l="l"/>
            <a:pathLst>
              <a:path h="9263380" w="4168521">
                <a:moveTo>
                  <a:pt x="0" y="0"/>
                </a:moveTo>
                <a:lnTo>
                  <a:pt x="4168521" y="0"/>
                </a:lnTo>
                <a:lnTo>
                  <a:pt x="4168521" y="9263381"/>
                </a:lnTo>
                <a:lnTo>
                  <a:pt x="0" y="92633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352276" y="469676"/>
            <a:ext cx="4168521" cy="9263380"/>
          </a:xfrm>
          <a:custGeom>
            <a:avLst/>
            <a:gdLst/>
            <a:ahLst/>
            <a:cxnLst/>
            <a:rect r="r" b="b" t="t" l="l"/>
            <a:pathLst>
              <a:path h="9263380" w="4168521">
                <a:moveTo>
                  <a:pt x="0" y="0"/>
                </a:moveTo>
                <a:lnTo>
                  <a:pt x="4168521" y="0"/>
                </a:lnTo>
                <a:lnTo>
                  <a:pt x="4168521" y="9263381"/>
                </a:lnTo>
                <a:lnTo>
                  <a:pt x="0" y="92633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64868" y="2186304"/>
            <a:ext cx="5935876" cy="511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00"/>
              </a:lnSpc>
            </a:pPr>
            <a:r>
              <a:rPr lang="en-US" sz="3679" spc="36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DESING APP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975512" y="3356927"/>
            <a:ext cx="6114588" cy="3515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Com a abertura do App, é possivel visualizar as ruas e vias que estão alagadas. Podendo ser selecionado um ponto no mapa para que o sistema</a:t>
            </a:r>
            <a:r>
              <a:rPr lang="en-US" sz="2199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 possa</a:t>
            </a:r>
            <a:r>
              <a:rPr lang="en-US" sz="2199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 traçar uma rota adequada e segura até o local. O sistema também permite que você reporte outros lugares que estão com pequena ou grande quantidade de agua. Assim ajudando a analise de enchentes e melhorando o controle e gerenciamento de rotas seguras.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5400000">
            <a:off x="15177010" y="-1253949"/>
            <a:ext cx="2720897" cy="5228794"/>
          </a:xfrm>
          <a:custGeom>
            <a:avLst/>
            <a:gdLst/>
            <a:ahLst/>
            <a:cxnLst/>
            <a:rect r="r" b="b" t="t" l="l"/>
            <a:pathLst>
              <a:path h="5228794" w="2720897">
                <a:moveTo>
                  <a:pt x="0" y="5228795"/>
                </a:moveTo>
                <a:lnTo>
                  <a:pt x="2720897" y="5228795"/>
                </a:lnTo>
                <a:lnTo>
                  <a:pt x="2720897" y="0"/>
                </a:lnTo>
                <a:lnTo>
                  <a:pt x="0" y="0"/>
                </a:lnTo>
                <a:lnTo>
                  <a:pt x="0" y="5228795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50541" y="2255366"/>
            <a:ext cx="14786917" cy="1026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7"/>
              </a:lnSpc>
            </a:pPr>
            <a:r>
              <a:rPr lang="en-US" sz="7365" spc="736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CONSIDERAÇÕES FINAIS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400000">
            <a:off x="390093" y="-1471468"/>
            <a:ext cx="2720897" cy="5228794"/>
          </a:xfrm>
          <a:custGeom>
            <a:avLst/>
            <a:gdLst/>
            <a:ahLst/>
            <a:cxnLst/>
            <a:rect r="r" b="b" t="t" l="l"/>
            <a:pathLst>
              <a:path h="5228794" w="2720897">
                <a:moveTo>
                  <a:pt x="0" y="0"/>
                </a:moveTo>
                <a:lnTo>
                  <a:pt x="2720897" y="0"/>
                </a:lnTo>
                <a:lnTo>
                  <a:pt x="2720897" y="5228794"/>
                </a:lnTo>
                <a:lnTo>
                  <a:pt x="0" y="52287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378345" y="4597248"/>
            <a:ext cx="4920028" cy="7484343"/>
            <a:chOff x="0" y="0"/>
            <a:chExt cx="1295810" cy="197118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95810" cy="1971185"/>
            </a:xfrm>
            <a:custGeom>
              <a:avLst/>
              <a:gdLst/>
              <a:ahLst/>
              <a:cxnLst/>
              <a:rect r="r" b="b" t="t" l="l"/>
              <a:pathLst>
                <a:path h="1971185" w="1295810">
                  <a:moveTo>
                    <a:pt x="0" y="0"/>
                  </a:moveTo>
                  <a:lnTo>
                    <a:pt x="1295810" y="0"/>
                  </a:lnTo>
                  <a:lnTo>
                    <a:pt x="1295810" y="1971185"/>
                  </a:lnTo>
                  <a:lnTo>
                    <a:pt x="0" y="197118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295810" cy="20188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267890" y="5181600"/>
            <a:ext cx="5140936" cy="1245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4"/>
              </a:lnSpc>
            </a:pPr>
            <a:r>
              <a:rPr lang="en-US" sz="3079" spc="307">
                <a:solidFill>
                  <a:srgbClr val="194A8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PESQUISA E LEVANTAMENTO DE DADOS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683986" y="4597248"/>
            <a:ext cx="4920028" cy="7480143"/>
            <a:chOff x="0" y="0"/>
            <a:chExt cx="1295810" cy="19700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5810" cy="1970079"/>
            </a:xfrm>
            <a:custGeom>
              <a:avLst/>
              <a:gdLst/>
              <a:ahLst/>
              <a:cxnLst/>
              <a:rect r="r" b="b" t="t" l="l"/>
              <a:pathLst>
                <a:path h="1970079" w="1295810">
                  <a:moveTo>
                    <a:pt x="0" y="0"/>
                  </a:moveTo>
                  <a:lnTo>
                    <a:pt x="1295810" y="0"/>
                  </a:lnTo>
                  <a:lnTo>
                    <a:pt x="1295810" y="1970079"/>
                  </a:lnTo>
                  <a:lnTo>
                    <a:pt x="0" y="197007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295810" cy="20177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151603" y="5181600"/>
            <a:ext cx="3984794" cy="84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4"/>
              </a:lnSpc>
              <a:spcBef>
                <a:spcPct val="0"/>
              </a:spcBef>
            </a:pPr>
            <a:r>
              <a:rPr lang="en-US" sz="3079" spc="307">
                <a:solidFill>
                  <a:srgbClr val="194A8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PROPOSTA DA SOLUÇÃO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989628" y="4597248"/>
            <a:ext cx="4920028" cy="7475943"/>
            <a:chOff x="0" y="0"/>
            <a:chExt cx="1295810" cy="196897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95810" cy="1968973"/>
            </a:xfrm>
            <a:custGeom>
              <a:avLst/>
              <a:gdLst/>
              <a:ahLst/>
              <a:cxnLst/>
              <a:rect r="r" b="b" t="t" l="l"/>
              <a:pathLst>
                <a:path h="1968973" w="1295810">
                  <a:moveTo>
                    <a:pt x="0" y="0"/>
                  </a:moveTo>
                  <a:lnTo>
                    <a:pt x="1295810" y="0"/>
                  </a:lnTo>
                  <a:lnTo>
                    <a:pt x="1295810" y="1968973"/>
                  </a:lnTo>
                  <a:lnTo>
                    <a:pt x="0" y="196897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1295810" cy="20165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1989628" y="4944486"/>
            <a:ext cx="4920028" cy="84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4"/>
              </a:lnSpc>
              <a:spcBef>
                <a:spcPct val="0"/>
              </a:spcBef>
            </a:pPr>
            <a:r>
              <a:rPr lang="en-US" sz="3079" spc="307">
                <a:solidFill>
                  <a:srgbClr val="194A8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IMPACTO E VIABILIDADE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96528" y="5737615"/>
            <a:ext cx="4083661" cy="4457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Análise de soluções no Brasil (Alerta Rio, SAISP, CEMADEN) e no exterior (FloodNet, MyFloodRisk). Destaque para Cingapura como caso de sucesso com sensores em tempo real e integração de dados climáticos e urbanos.</a:t>
            </a:r>
          </a:p>
          <a:p>
            <a:pPr algn="l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151603" y="6369830"/>
            <a:ext cx="4083661" cy="3853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199" strike="noStrike" u="none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Sistema integrado com sensores IoT, comunicação via LoRa/NB-IoT, app móvel com alertas e rotas seguras, plataforma em nuvem e painel para gestão pública. Coleta dados em tempo real, analisa riscos e orienta cidadãos e autoridades com rapidez.</a:t>
            </a:r>
          </a:p>
          <a:p>
            <a:pPr algn="l" marL="0" indent="0" lvl="0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2232664" y="5298188"/>
            <a:ext cx="4083661" cy="561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  <a:p>
            <a:pPr algn="ctr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Tecnológico: solução escalável e integrável a sistemas existentes.</a:t>
            </a:r>
          </a:p>
          <a:p>
            <a:pPr algn="ctr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Econômico: evita prejuízos urbanos e é de baixo custo.</a:t>
            </a:r>
          </a:p>
          <a:p>
            <a:pPr algn="ctr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Social: aumenta a segurança e acessibilidade.</a:t>
            </a:r>
          </a:p>
          <a:p>
            <a:pPr algn="ctr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Ambiental: baixo consumo de energia e apoio à limpeza urbana.</a:t>
            </a:r>
          </a:p>
          <a:p>
            <a:pPr algn="ctr" marL="431799" indent="-215899" lvl="1">
              <a:lnSpc>
                <a:spcPts val="2799"/>
              </a:lnSpc>
              <a:spcBef>
                <a:spcPct val="0"/>
              </a:spcBef>
              <a:buFont typeface="Arial"/>
              <a:buChar char="•"/>
            </a:pPr>
            <a:r>
              <a:rPr lang="en-US" sz="1999">
                <a:solidFill>
                  <a:srgbClr val="194A8D"/>
                </a:solidFill>
                <a:latin typeface="Arimo"/>
                <a:ea typeface="Arimo"/>
                <a:cs typeface="Arimo"/>
                <a:sym typeface="Arimo"/>
              </a:rPr>
              <a:t>Técnico: tecnologias disponíveis e aplicáveis com ferramentas abertas.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4874B0">
                <a:alpha val="100000"/>
              </a:srgbClr>
            </a:gs>
            <a:gs pos="100000">
              <a:srgbClr val="053371">
                <a:alpha val="100000"/>
              </a:srgbClr>
            </a:gs>
          </a:gsLst>
          <a:path path="circle">
            <a:fillToRect l="0" r="100000" t="0" b="100000"/>
          </a:path>
          <a:tileRect r="0" l="-100000" b="0" t="-1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81354" y="1028700"/>
            <a:ext cx="4282420" cy="8229600"/>
          </a:xfrm>
          <a:custGeom>
            <a:avLst/>
            <a:gdLst/>
            <a:ahLst/>
            <a:cxnLst/>
            <a:rect r="r" b="b" t="t" l="l"/>
            <a:pathLst>
              <a:path h="8229600" w="4282420">
                <a:moveTo>
                  <a:pt x="0" y="0"/>
                </a:moveTo>
                <a:lnTo>
                  <a:pt x="4282420" y="0"/>
                </a:lnTo>
                <a:lnTo>
                  <a:pt x="42824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0" y="1028700"/>
            <a:ext cx="4282420" cy="8229600"/>
          </a:xfrm>
          <a:custGeom>
            <a:avLst/>
            <a:gdLst/>
            <a:ahLst/>
            <a:cxnLst/>
            <a:rect r="r" b="b" t="t" l="l"/>
            <a:pathLst>
              <a:path h="8229600" w="4282420">
                <a:moveTo>
                  <a:pt x="4282420" y="0"/>
                </a:moveTo>
                <a:lnTo>
                  <a:pt x="0" y="0"/>
                </a:lnTo>
                <a:lnTo>
                  <a:pt x="0" y="8229600"/>
                </a:lnTo>
                <a:lnTo>
                  <a:pt x="4282420" y="8229600"/>
                </a:lnTo>
                <a:lnTo>
                  <a:pt x="428242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22499" y="5843060"/>
            <a:ext cx="3346337" cy="3694224"/>
          </a:xfrm>
          <a:custGeom>
            <a:avLst/>
            <a:gdLst/>
            <a:ahLst/>
            <a:cxnLst/>
            <a:rect r="r" b="b" t="t" l="l"/>
            <a:pathLst>
              <a:path h="3694224" w="3346337">
                <a:moveTo>
                  <a:pt x="0" y="0"/>
                </a:moveTo>
                <a:lnTo>
                  <a:pt x="3346338" y="0"/>
                </a:lnTo>
                <a:lnTo>
                  <a:pt x="3346338" y="3694224"/>
                </a:lnTo>
                <a:lnTo>
                  <a:pt x="0" y="36942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68837" y="4876938"/>
            <a:ext cx="11238865" cy="1573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18"/>
              </a:lnSpc>
            </a:pPr>
            <a:r>
              <a:rPr lang="en-US" sz="11338" spc="113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DAGnuM6cBMM</dc:identifier>
  <dcterms:modified xsi:type="dcterms:W3CDTF">2011-08-01T06:04:30Z</dcterms:modified>
  <cp:revision>1</cp:revision>
  <dc:title>Apresentação - SOS ENCHENTE</dc:title>
</cp:coreProperties>
</file>